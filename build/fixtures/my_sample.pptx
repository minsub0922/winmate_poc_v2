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14.1</c:v>
                </c:pt>
                <c:pt idx="2">
                  <c:v>15.8</c:v>
                </c:pt>
                <c:pt idx="3">
                  <c:v>18.2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비용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9.1</c:v>
                </c:pt>
                <c:pt idx="1">
                  <c:v>8.7</c:v>
                </c:pt>
                <c:pt idx="2">
                  <c:v>8.2</c:v>
                </c:pt>
                <c:pt idx="3">
                  <c:v>7.9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스마트 매장 디지털 전환 제안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커피 프랜차이즈 · 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417"/>
                </a:solidFill>
                <a:latin typeface="Noto Sans KR"/>
              </a:rPr>
              <a:t>매장 운영을 바꾸는 세 가지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651760" cy="128016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본사 통합 운영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463040"/>
            <a:ext cx="2651760" cy="1280160"/>
          </a:xfrm>
          <a:prstGeom prst="roundRect">
            <a:avLst/>
          </a:prstGeom>
          <a:solidFill>
            <a:srgbClr val="0B6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저전력 자동화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2651760" cy="1280160"/>
          </a:xfrm>
          <a:prstGeom prst="roundRect">
            <a:avLst/>
          </a:prstGeom>
          <a:solidFill>
            <a:srgbClr val="5B3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데이터 기반 판촉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3108960"/>
            <a:ext cx="2743200" cy="914400"/>
          </a:xfrm>
          <a:prstGeom prst="chevron">
            <a:avLst/>
          </a:prstGeom>
          <a:gradFill rotWithShape="1">
            <a:gsLst>
              <a:gs pos="0">
                <a:srgbClr val="1428A0"/>
              </a:gs>
              <a:gs pos="100000">
                <a:srgbClr val="93A6FF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474720" y="3566160"/>
            <a:ext cx="2011680" cy="0"/>
          </a:xfrm>
          <a:prstGeom prst="line">
            <a:avLst/>
          </a:prstGeom>
          <a:ln w="25400">
            <a:solidFill>
              <a:srgbClr val="5961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760720" y="3108960"/>
            <a:ext cx="2011680" cy="914400"/>
            <a:chOff x="5760720" y="3108960"/>
            <a:chExt cx="2011680" cy="914400"/>
          </a:xfrm>
        </p:grpSpPr>
        <p:sp>
          <p:nvSpPr>
            <p:cNvPr id="9" name="Oval 8"/>
            <p:cNvSpPr/>
            <p:nvPr/>
          </p:nvSpPr>
          <p:spPr>
            <a:xfrm>
              <a:off x="5760720" y="3108960"/>
              <a:ext cx="914400" cy="914400"/>
            </a:xfrm>
            <a:prstGeom prst="ellipse">
              <a:avLst/>
            </a:prstGeom>
            <a:solidFill>
              <a:srgbClr val="E889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6858000" y="3108960"/>
              <a:ext cx="914400" cy="914400"/>
            </a:xfrm>
            <a:prstGeom prst="triangle">
              <a:avLst/>
            </a:prstGeom>
            <a:solidFill>
              <a:srgbClr val="B423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" name="Picture 10" descr="life-qm55c-coffee.jp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8229600" y="1463040"/>
            <a:ext cx="347472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6170"/>
                </a:solidFill>
                <a:latin typeface="Noto Sans KR"/>
              </a:rPr>
              <a:t>출처: 사내 도입 사례 · </a:t>
            </a:r>
            <a:r>
              <a:rPr sz="1200" b="1">
                <a:solidFill>
                  <a:srgbClr val="1428A0"/>
                </a:solidFill>
                <a:latin typeface="Noto Sans KR"/>
              </a:rPr>
              <a:t>굵은 강조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도입 전후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도입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도입 후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메뉴 교체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당일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전력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장애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현장 방문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원격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645920"/>
          <a:ext cx="53035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실행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파일럿 10개 매장</a:t>
            </a:r>
          </a:p>
          <a:p>
            <a:pPr lvl="1"/>
            <a:r>
              <a:t>메뉴보드 3면 · 키오스크 2대</a:t>
            </a:r>
          </a:p>
          <a:p>
            <a:pPr lvl="1"/>
            <a:r>
              <a:t>본사 CMS 연동</a:t>
            </a:r>
          </a:p>
          <a:p>
            <a:pPr/>
            <a:r>
              <a:t>전국 확산</a:t>
            </a:r>
          </a:p>
          <a:p>
            <a:pPr lvl="1"/>
            <a:r>
              <a:t>지역별 단계 도입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숨긴 장 — 참고 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